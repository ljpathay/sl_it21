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84621"/>
  </p:normalViewPr>
  <p:slideViewPr>
    <p:cSldViewPr snapToGrid="0" snapToObjects="1">
      <p:cViewPr varScale="1">
        <p:scale>
          <a:sx n="124" d="100"/>
          <a:sy n="124" d="100"/>
        </p:scale>
        <p:origin x="11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72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study title, and adviser. Keep this within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context, the research gap, and your motivation. Aim for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general objective first, then walk through each specific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gray placeholders with actual photos from your data gathering activities. Briefly describe who participated and what instruments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your chosen development model. If using Waterfall or V-model instead, describe the phases sequentially. Explain which sprint produces which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data flows from Input through your research Process to produce the Output. Connect this to your RRL and theoretical framework if applicable.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Clearly explain what the innovative element is, how it works, and how it maps to your specific objectives. Replace SVM with your actual algorithm or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C1DB0-F2AC-2A03-5AB6-0F4C3ADC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9A88E-4042-B4FE-5982-E6566631C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99F84-BCF6-2B91-950A-442451B88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Clearly explain what the innovative element is, how it works, and how it maps to your specific objectives. Replace SVM with your actual algorithm or technique.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3C8E2-C123-7A8E-4837-2E2F72D08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50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with actual prototype screenshots. Each annotation card maps to one specific objective, showing the panel that your design is purposeful and not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panel questions. Remain composed, concise, and grounded in your data.</a:t>
            </a:r>
            <a:br>
              <a:rPr lang="en-US" dirty="0"/>
            </a:br>
            <a:br>
              <a:rPr lang="en-US" dirty="0"/>
            </a:br>
            <a:r>
              <a:rPr lang="en-PH" dirty="0"/>
              <a:t>This presentation was developed with the assistance of </a:t>
            </a:r>
            <a:r>
              <a:rPr lang="en-PH" b="1" dirty="0"/>
              <a:t>Claude AI</a:t>
            </a:r>
            <a:r>
              <a:rPr lang="en-PH" dirty="0"/>
              <a:t> and reviewed by </a:t>
            </a:r>
            <a:r>
              <a:rPr lang="en-PH" b="1" dirty="0"/>
              <a:t>Ms. Barbosa</a:t>
            </a:r>
            <a:r>
              <a:rPr lang="en-PH" dirty="0"/>
              <a:t>. The material is intended solely for instructional use in </a:t>
            </a:r>
            <a:r>
              <a:rPr lang="en-PH" b="1" dirty="0"/>
              <a:t>IT 22 (Sections 12810, 13367, and 13387)</a:t>
            </a:r>
            <a:r>
              <a:rPr lang="en-PH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8046720" cy="16459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Title Goes Here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subtitle or brief description of the study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1  ·  Member Name 2  ·  Member Name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Information Technology  ·  College of Computing Education  ·  University of Mindanao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461772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0" y="4617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of the Study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Motivation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52728"/>
            <a:ext cx="8046720" cy="11887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3:00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029968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describe the broader context or background of the problem. What is currently happening in this domain?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7872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029968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is missing, broken, or underserved. What specific problem does your study address?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029968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this matters. Who is affected and why is it important to solve this now?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1887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2:00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1556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170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4447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aims to [insert general objective — one sentence describing the overarching goal of the research].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29184" cy="329184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44144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/ assess / determine [specific aspect of the study].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29184" cy="329184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26440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/ develop / implement [system, model, or framework].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29184" cy="329184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08736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/ test / validate [the proposed solution or output].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Gathering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Participants, Instruments &amp; Photo Evidence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52728"/>
            <a:ext cx="8046720" cy="11887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5:00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who participated (e.g., 50 BSIT students, barangay officials, LGU staff). Include sampling technique (purposive, random, total population).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852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Instruments /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312724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Survey questionnaire (5-point Likert), structured interview guide, pre/post-test, system logs, sensor data, camera trap.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0560" y="1417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 1]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/ Interview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Survey administration, Brgy. X, Month Year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75120" y="14173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417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 2]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 / Site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FGD session with respondents, Month Year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80560" y="331012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33101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 3 — wider: deployment, testing, or observation evidence]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(or your chosen model)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52728"/>
            <a:ext cx="8046720" cy="11887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5:00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42245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0" name="Picture 29" descr="What is Scrum? | The Agile Journey: A Scrum overview">
            <a:extLst>
              <a:ext uri="{FF2B5EF4-FFF2-40B4-BE49-F238E27FC236}">
                <a16:creationId xmlns:a16="http://schemas.microsoft.com/office/drawing/2014/main" id="{E4785C9D-4BEB-F4C4-781A-86051593A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1378000"/>
            <a:ext cx="6035040" cy="3148280"/>
          </a:xfrm>
          <a:prstGeom prst="rect">
            <a:avLst/>
          </a:prstGeom>
        </p:spPr>
      </p:pic>
      <p:sp>
        <p:nvSpPr>
          <p:cNvPr id="32" name="Text 10">
            <a:extLst>
              <a:ext uri="{FF2B5EF4-FFF2-40B4-BE49-F238E27FC236}">
                <a16:creationId xmlns:a16="http://schemas.microsoft.com/office/drawing/2014/main" id="{50781AB1-C8A9-7254-63BD-15C2E6813B49}"/>
              </a:ext>
            </a:extLst>
          </p:cNvPr>
          <p:cNvSpPr/>
          <p:nvPr/>
        </p:nvSpPr>
        <p:spPr>
          <a:xfrm>
            <a:off x="960120" y="4535424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Agile Scrum Model</a:t>
            </a:r>
            <a:endParaRPr lang="en-US" sz="13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1887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5:00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286000" cy="301752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61848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2039112"/>
            <a:ext cx="20299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50876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27248" y="1618488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45536" y="2039112"/>
            <a:ext cx="28529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19088" y="161848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37376" y="2039112"/>
            <a:ext cx="22128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96896" y="2999232"/>
            <a:ext cx="256032" cy="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80176" y="2999232"/>
            <a:ext cx="256032" cy="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16752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4626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BEE5CD16-529D-87A8-7966-17D18674C6B8}"/>
              </a:ext>
            </a:extLst>
          </p:cNvPr>
          <p:cNvSpPr/>
          <p:nvPr/>
        </p:nvSpPr>
        <p:spPr>
          <a:xfrm>
            <a:off x="960120" y="4535424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IPO Model</a:t>
            </a:r>
            <a:endParaRPr lang="en-US" sz="13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297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using SVM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52728"/>
            <a:ext cx="8046720" cy="11887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5:00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0" y="1435608"/>
            <a:ext cx="3657600" cy="3337560"/>
          </a:xfrm>
          <a:prstGeom prst="roundRect">
            <a:avLst>
              <a:gd name="adj" fmla="val 2192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93792" y="1554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SVM works?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93792" y="1938528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050" b="1" dirty="0"/>
              <a:t>Collect and preprocess transaction data</a:t>
            </a:r>
            <a:r>
              <a:rPr lang="en-PH" sz="1050" dirty="0"/>
              <a:t> (e.g., amount, location, time, frequency of transactions).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050" b="1" dirty="0"/>
              <a:t>Represent each transaction as a data point</a:t>
            </a:r>
            <a:r>
              <a:rPr lang="en-PH" sz="1050" dirty="0"/>
              <a:t> in a multidimensional feature space.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050" b="1" dirty="0"/>
              <a:t>Identify an optimal hyperplane</a:t>
            </a:r>
            <a:r>
              <a:rPr lang="en-PH" sz="1050" dirty="0"/>
              <a:t> that separates legitimate transactions from fraudulent ones.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050" b="1" dirty="0"/>
              <a:t>Maximize the margin</a:t>
            </a:r>
            <a:r>
              <a:rPr lang="en-PH" sz="1050" dirty="0"/>
              <a:t> between the two classes to improve classification accuracy and generalization.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050" b="1" dirty="0"/>
              <a:t>Use kernel functions</a:t>
            </a:r>
            <a:r>
              <a:rPr lang="en-PH" sz="1050" dirty="0"/>
              <a:t> (e.g., linear, polynomial, Radial Basis Function) to handle complex, non-linear fraud patterns.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050" b="1" dirty="0"/>
              <a:t>Classify new transactions</a:t>
            </a:r>
            <a:r>
              <a:rPr lang="en-PH" sz="1050" dirty="0"/>
              <a:t> by determining on which side of the hyperplane they fall.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050" b="1" dirty="0"/>
              <a:t>Flag transactions predicted as fraudulent</a:t>
            </a:r>
            <a:r>
              <a:rPr lang="en-PH" sz="1050" dirty="0"/>
              <a:t> for further investigation or automatic intervention. </a:t>
            </a:r>
          </a:p>
          <a:p>
            <a:endParaRPr lang="en-PH" sz="1050" dirty="0"/>
          </a:p>
          <a:p>
            <a:r>
              <a:rPr lang="en-PH" sz="1050" dirty="0"/>
              <a:t>[1] C. Cortes and V. </a:t>
            </a:r>
            <a:r>
              <a:rPr lang="en-PH" sz="1050" dirty="0" err="1"/>
              <a:t>Vapnik</a:t>
            </a:r>
            <a:r>
              <a:rPr lang="en-PH" sz="1050" dirty="0"/>
              <a:t>, "Support-vector networks," </a:t>
            </a:r>
            <a:r>
              <a:rPr lang="en-PH" sz="1050" i="1" dirty="0"/>
              <a:t>Machine Learning</a:t>
            </a:r>
            <a:r>
              <a:rPr lang="en-PH" sz="1050" dirty="0"/>
              <a:t>, vol. 20, no. 3, pp. 273–297, 1995.</a:t>
            </a:r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novel: No existing local system currently does this for the target context.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Reduces false positives by ~40% vs. rule-based filters (based on related literature).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Objective 2: Design and develop a fraud detection module integrated into the system.</a:t>
            </a:r>
            <a:endParaRPr lang="en-US" sz="1050" dirty="0"/>
          </a:p>
        </p:txBody>
      </p:sp>
      <p:pic>
        <p:nvPicPr>
          <p:cNvPr id="67" name="Picture 66" descr="Defying Convention: SVM - The Maverick of ML Algorithms">
            <a:extLst>
              <a:ext uri="{FF2B5EF4-FFF2-40B4-BE49-F238E27FC236}">
                <a16:creationId xmlns:a16="http://schemas.microsoft.com/office/drawing/2014/main" id="{F1B9BA98-71B2-628B-BEDB-024A97461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3215"/>
            <a:ext cx="4096186" cy="3065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8ACF6-5627-61FB-DFBD-F251D08B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0CD4BE-3DE3-42C0-9A75-B5433AAE9715}"/>
              </a:ext>
            </a:extLst>
          </p:cNvPr>
          <p:cNvSpPr/>
          <p:nvPr/>
        </p:nvSpPr>
        <p:spPr>
          <a:xfrm>
            <a:off x="81381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16608D-9614-FDA6-CA49-9B07D6163486}"/>
              </a:ext>
            </a:extLst>
          </p:cNvPr>
          <p:cNvSpPr/>
          <p:nvPr/>
        </p:nvSpPr>
        <p:spPr>
          <a:xfrm>
            <a:off x="548640" y="4297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using SVM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8F675C5-D5E1-FC4B-3694-50054C792A93}"/>
              </a:ext>
            </a:extLst>
          </p:cNvPr>
          <p:cNvSpPr/>
          <p:nvPr/>
        </p:nvSpPr>
        <p:spPr>
          <a:xfrm>
            <a:off x="548640" y="1252728"/>
            <a:ext cx="8046720" cy="11887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3E9084-4EC1-130F-A0A4-D04A38463CE4}"/>
              </a:ext>
            </a:extLst>
          </p:cNvPr>
          <p:cNvSpPr/>
          <p:nvPr/>
        </p:nvSpPr>
        <p:spPr>
          <a:xfrm>
            <a:off x="740664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5:00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89CF2AE-C336-A3CB-7A53-888E966F451B}"/>
              </a:ext>
            </a:extLst>
          </p:cNvPr>
          <p:cNvSpPr/>
          <p:nvPr/>
        </p:nvSpPr>
        <p:spPr>
          <a:xfrm>
            <a:off x="2056863" y="1474470"/>
            <a:ext cx="749808" cy="960120"/>
          </a:xfrm>
          <a:prstGeom prst="roundRect">
            <a:avLst>
              <a:gd name="adj" fmla="val 9756"/>
            </a:avLst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D4614F4-76D4-7F67-69E0-3CE2B176D2FC}"/>
              </a:ext>
            </a:extLst>
          </p:cNvPr>
          <p:cNvSpPr/>
          <p:nvPr/>
        </p:nvSpPr>
        <p:spPr>
          <a:xfrm>
            <a:off x="2093439" y="151104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047398C-3817-650C-F61C-DCBD3242AB96}"/>
              </a:ext>
            </a:extLst>
          </p:cNvPr>
          <p:cNvSpPr/>
          <p:nvPr/>
        </p:nvSpPr>
        <p:spPr>
          <a:xfrm>
            <a:off x="2093439" y="2059686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logs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5C08D78-2DF5-7D26-1D2A-D8CD7EFE3E48}"/>
              </a:ext>
            </a:extLst>
          </p:cNvPr>
          <p:cNvSpPr/>
          <p:nvPr/>
        </p:nvSpPr>
        <p:spPr>
          <a:xfrm>
            <a:off x="2770095" y="167563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B453D6C-DF27-CD6C-69B8-5E3A16CACFFD}"/>
              </a:ext>
            </a:extLst>
          </p:cNvPr>
          <p:cNvSpPr/>
          <p:nvPr/>
        </p:nvSpPr>
        <p:spPr>
          <a:xfrm>
            <a:off x="3007839" y="1474470"/>
            <a:ext cx="749808" cy="960120"/>
          </a:xfrm>
          <a:prstGeom prst="roundRect">
            <a:avLst>
              <a:gd name="adj" fmla="val 9756"/>
            </a:avLst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017F6B6-FC1A-5383-AAF0-80A38DD77688}"/>
              </a:ext>
            </a:extLst>
          </p:cNvPr>
          <p:cNvSpPr/>
          <p:nvPr/>
        </p:nvSpPr>
        <p:spPr>
          <a:xfrm>
            <a:off x="3044415" y="151104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308DCBE-B1E5-F3B8-3990-8705BAFF5C6E}"/>
              </a:ext>
            </a:extLst>
          </p:cNvPr>
          <p:cNvSpPr/>
          <p:nvPr/>
        </p:nvSpPr>
        <p:spPr>
          <a:xfrm>
            <a:off x="3044415" y="2059686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Normalize, encode</a:t>
            </a: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B67A293-8E48-2A9A-DD90-989789704D18}"/>
              </a:ext>
            </a:extLst>
          </p:cNvPr>
          <p:cNvSpPr/>
          <p:nvPr/>
        </p:nvSpPr>
        <p:spPr>
          <a:xfrm>
            <a:off x="3721071" y="167563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4DB2D0A-DC42-7C7D-6C6B-F310C9839C3A}"/>
              </a:ext>
            </a:extLst>
          </p:cNvPr>
          <p:cNvSpPr/>
          <p:nvPr/>
        </p:nvSpPr>
        <p:spPr>
          <a:xfrm>
            <a:off x="3958815" y="1474470"/>
            <a:ext cx="749808" cy="960120"/>
          </a:xfrm>
          <a:prstGeom prst="roundRect">
            <a:avLst>
              <a:gd name="adj" fmla="val 9756"/>
            </a:avLst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7F82E61-5258-9F5E-9FB4-6474A3254C2C}"/>
              </a:ext>
            </a:extLst>
          </p:cNvPr>
          <p:cNvSpPr/>
          <p:nvPr/>
        </p:nvSpPr>
        <p:spPr>
          <a:xfrm>
            <a:off x="3995391" y="151104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1ABB3A7-54CB-2935-2688-76F58E20F8D3}"/>
              </a:ext>
            </a:extLst>
          </p:cNvPr>
          <p:cNvSpPr/>
          <p:nvPr/>
        </p:nvSpPr>
        <p:spPr>
          <a:xfrm>
            <a:off x="3995391" y="2059686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time, type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FFD058C-8A51-BED6-2E08-9817B848C127}"/>
              </a:ext>
            </a:extLst>
          </p:cNvPr>
          <p:cNvSpPr/>
          <p:nvPr/>
        </p:nvSpPr>
        <p:spPr>
          <a:xfrm>
            <a:off x="4672047" y="167563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00987DC-ADD4-042E-82B6-18BE64112105}"/>
              </a:ext>
            </a:extLst>
          </p:cNvPr>
          <p:cNvSpPr/>
          <p:nvPr/>
        </p:nvSpPr>
        <p:spPr>
          <a:xfrm>
            <a:off x="4909791" y="1474470"/>
            <a:ext cx="749808" cy="960120"/>
          </a:xfrm>
          <a:prstGeom prst="roundRect">
            <a:avLst>
              <a:gd name="adj" fmla="val 975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10B5784-0577-CF7E-46F4-AF94C31322A8}"/>
              </a:ext>
            </a:extLst>
          </p:cNvPr>
          <p:cNvSpPr/>
          <p:nvPr/>
        </p:nvSpPr>
        <p:spPr>
          <a:xfrm>
            <a:off x="4946367" y="151104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5259DC3-8EF5-AE1F-909A-2BF8B02B7DAB}"/>
              </a:ext>
            </a:extLst>
          </p:cNvPr>
          <p:cNvSpPr/>
          <p:nvPr/>
        </p:nvSpPr>
        <p:spPr>
          <a:xfrm>
            <a:off x="4946367" y="2059686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C314D05-3910-4A28-89D9-49F6CC7E42A9}"/>
              </a:ext>
            </a:extLst>
          </p:cNvPr>
          <p:cNvSpPr/>
          <p:nvPr/>
        </p:nvSpPr>
        <p:spPr>
          <a:xfrm>
            <a:off x="5623023" y="167563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6822603-7C70-3097-9C2B-5FDB8CFD5F79}"/>
              </a:ext>
            </a:extLst>
          </p:cNvPr>
          <p:cNvSpPr/>
          <p:nvPr/>
        </p:nvSpPr>
        <p:spPr>
          <a:xfrm>
            <a:off x="5860767" y="1474470"/>
            <a:ext cx="749808" cy="960120"/>
          </a:xfrm>
          <a:prstGeom prst="roundRect">
            <a:avLst>
              <a:gd name="adj" fmla="val 9756"/>
            </a:avLst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D966BA7-BC36-BCAC-F99F-06FA7F387EE9}"/>
              </a:ext>
            </a:extLst>
          </p:cNvPr>
          <p:cNvSpPr/>
          <p:nvPr/>
        </p:nvSpPr>
        <p:spPr>
          <a:xfrm>
            <a:off x="5897343" y="151104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D9D086D-48D5-19FF-7D23-A7FA1605DBAE}"/>
              </a:ext>
            </a:extLst>
          </p:cNvPr>
          <p:cNvSpPr/>
          <p:nvPr/>
        </p:nvSpPr>
        <p:spPr>
          <a:xfrm>
            <a:off x="5897343" y="2059686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Legit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F721E94-C4C3-19A1-150E-36CE9BFBF5FF}"/>
              </a:ext>
            </a:extLst>
          </p:cNvPr>
          <p:cNvSpPr/>
          <p:nvPr/>
        </p:nvSpPr>
        <p:spPr>
          <a:xfrm>
            <a:off x="2056863" y="257175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Proposed Machine Learning Pipeline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FF7EC9C-F40C-2112-DED9-BCE2C94BBAEE}"/>
              </a:ext>
            </a:extLst>
          </p:cNvPr>
          <p:cNvSpPr/>
          <p:nvPr/>
        </p:nvSpPr>
        <p:spPr>
          <a:xfrm>
            <a:off x="2056863" y="2810210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(Literature Basis)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9AFB217-2B54-1096-E1AA-FF6464427F3C}"/>
              </a:ext>
            </a:extLst>
          </p:cNvPr>
          <p:cNvSpPr/>
          <p:nvPr/>
        </p:nvSpPr>
        <p:spPr>
          <a:xfrm>
            <a:off x="2056863" y="301980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8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97EFE79-1AA3-E7F8-8B28-2C4B4998005A}"/>
              </a:ext>
            </a:extLst>
          </p:cNvPr>
          <p:cNvSpPr/>
          <p:nvPr/>
        </p:nvSpPr>
        <p:spPr>
          <a:xfrm>
            <a:off x="3318735" y="3010662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5AA8E4C-2D9D-AF5B-53C3-E01277FA952C}"/>
              </a:ext>
            </a:extLst>
          </p:cNvPr>
          <p:cNvSpPr/>
          <p:nvPr/>
        </p:nvSpPr>
        <p:spPr>
          <a:xfrm>
            <a:off x="3318735" y="3010662"/>
            <a:ext cx="1975104" cy="256032"/>
          </a:xfrm>
          <a:prstGeom prst="roundRect">
            <a:avLst>
              <a:gd name="adj" fmla="val 14286"/>
            </a:avLst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82DB47-4E47-9922-5440-7CA6572E837E}"/>
              </a:ext>
            </a:extLst>
          </p:cNvPr>
          <p:cNvSpPr/>
          <p:nvPr/>
        </p:nvSpPr>
        <p:spPr>
          <a:xfrm>
            <a:off x="5348703" y="301066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0419710-A49F-2DA6-0762-1092D5888D1A}"/>
              </a:ext>
            </a:extLst>
          </p:cNvPr>
          <p:cNvSpPr/>
          <p:nvPr/>
        </p:nvSpPr>
        <p:spPr>
          <a:xfrm>
            <a:off x="2056863" y="360502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C7C0C49-D960-E76D-A758-3B32AB491E2E}"/>
              </a:ext>
            </a:extLst>
          </p:cNvPr>
          <p:cNvSpPr/>
          <p:nvPr/>
        </p:nvSpPr>
        <p:spPr>
          <a:xfrm>
            <a:off x="3318735" y="3595878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D1E3BF08-2189-CC1F-0783-85BEC24A05A9}"/>
              </a:ext>
            </a:extLst>
          </p:cNvPr>
          <p:cNvSpPr/>
          <p:nvPr/>
        </p:nvSpPr>
        <p:spPr>
          <a:xfrm>
            <a:off x="3318735" y="3595878"/>
            <a:ext cx="2435962" cy="256032"/>
          </a:xfrm>
          <a:prstGeom prst="roundRect">
            <a:avLst>
              <a:gd name="adj" fmla="val 14286"/>
            </a:avLst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6102BFC-BDA6-F5D2-B224-2D3089BD9514}"/>
              </a:ext>
            </a:extLst>
          </p:cNvPr>
          <p:cNvSpPr/>
          <p:nvPr/>
        </p:nvSpPr>
        <p:spPr>
          <a:xfrm>
            <a:off x="5809561" y="359587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8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5A656A6-26EC-0E9D-3CF7-69E7867E4BF6}"/>
              </a:ext>
            </a:extLst>
          </p:cNvPr>
          <p:cNvSpPr/>
          <p:nvPr/>
        </p:nvSpPr>
        <p:spPr>
          <a:xfrm>
            <a:off x="2056863" y="419023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(Proposed)</a:t>
            </a:r>
            <a:endParaRPr lang="en-US" sz="8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1D02984-5085-802E-9C91-427D0ED123C2}"/>
              </a:ext>
            </a:extLst>
          </p:cNvPr>
          <p:cNvSpPr/>
          <p:nvPr/>
        </p:nvSpPr>
        <p:spPr>
          <a:xfrm>
            <a:off x="3318735" y="4181094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B1FA5A3-1654-F5A1-0527-0A335CF81257}"/>
              </a:ext>
            </a:extLst>
          </p:cNvPr>
          <p:cNvSpPr/>
          <p:nvPr/>
        </p:nvSpPr>
        <p:spPr>
          <a:xfrm>
            <a:off x="3318735" y="4181094"/>
            <a:ext cx="292973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52F8BA3-2F65-2254-5B05-D50C191CAA8B}"/>
              </a:ext>
            </a:extLst>
          </p:cNvPr>
          <p:cNvSpPr/>
          <p:nvPr/>
        </p:nvSpPr>
        <p:spPr>
          <a:xfrm>
            <a:off x="6303337" y="418109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108704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Prototype / Live Demo 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Specific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11887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– 7:00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main prototype screenshot here]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Main Interface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42432" y="1389888"/>
            <a:ext cx="3035808" cy="987552"/>
          </a:xfrm>
          <a:prstGeom prst="roundRect">
            <a:avLst>
              <a:gd name="adj" fmla="val 7407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52160" y="1499616"/>
            <a:ext cx="347472" cy="347472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63640" y="1481328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profile management module — addresses Objective 1 (identify and assess system requirements).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42432" y="2532888"/>
            <a:ext cx="3035808" cy="987552"/>
          </a:xfrm>
          <a:prstGeom prst="roundRect">
            <a:avLst>
              <a:gd name="adj" fmla="val 7407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2642616"/>
            <a:ext cx="347472" cy="347472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2624328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/ algorithm module — addresses Objective 2 (design and develop the system).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42432" y="3675888"/>
            <a:ext cx="3035808" cy="987552"/>
          </a:xfrm>
          <a:prstGeom prst="roundRect">
            <a:avLst>
              <a:gd name="adj" fmla="val 7407"/>
            </a:avLst>
          </a:prstGeom>
          <a:solidFill>
            <a:srgbClr val="F8F8F8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52160" y="3785616"/>
            <a:ext cx="347472" cy="347472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3767328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dashboard showing accuracy/performance metrics — addresses Objective 3 (evaluate and validate).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68880"/>
            <a:ext cx="8046720" cy="16459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questions from the panel.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was developed with the assistance of Claude AI and reviewed by Ms. Barbosa. The material is intended </a:t>
            </a: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solely</a:t>
            </a:r>
            <a:r>
              <a:rPr lang="en-US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instructional use in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22 (Sections 12810, 13367, and 13387).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03757D6-2538-550E-BB48-752DF780773B}"/>
              </a:ext>
            </a:extLst>
          </p:cNvPr>
          <p:cNvSpPr/>
          <p:nvPr/>
        </p:nvSpPr>
        <p:spPr>
          <a:xfrm>
            <a:off x="548640" y="4434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1006</Words>
  <Application>Microsoft Macintosh PowerPoint</Application>
  <PresentationFormat>On-screen Show (16:9)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 Defense Presentation Template</dc:title>
  <dc:subject>PptxGenJS Presentation</dc:subject>
  <dc:creator>PptxGenJS</dc:creator>
  <cp:lastModifiedBy>charis barbosa</cp:lastModifiedBy>
  <cp:revision>3</cp:revision>
  <dcterms:created xsi:type="dcterms:W3CDTF">2026-06-27T07:31:18Z</dcterms:created>
  <dcterms:modified xsi:type="dcterms:W3CDTF">2026-06-27T07:51:49Z</dcterms:modified>
</cp:coreProperties>
</file>